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Opening: this project demonstrates a RISC-V custom-instruction CNN accelerator and validates it from RTL simulation to FPGA board execution.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Set motivation: the design is about acceleration and evidence, not just RTL implementation.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Explain that NICE carries operands and control directly, while AHB remains responsible for memory and peripherals.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Walk through the six instructions and emphasize the rs2 index semantics.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Explain WLOAD columns, DLOAD rows, output-stationary accumulation, and RSTAT readback.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Emphasize the closed chain: RTL, full-SoC, hello board, CNN board, rs2 regression.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Use this slide to explain how ILA made the board bring-up observable.</a:t>
            </a: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State the board result plainly: SW output, HW output, expected output all match; speedup is 5.282x.</a:t>
            </a: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Start with speedup, then mention resource headroom and why end-to-end inference is still limited by software FC layers.</a:t>
            </a: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Explain this as the engineering insight: protocol integration details matter as much as datapath correctness.</a:t>
            </a: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Close with what is achieved and what remains deliberately scoped as future work.</a:t>
            </a:r>
          </a:p>
        </p:txBody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Relationship Id="rId3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Relationship Id="rId3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8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13232" y="713232"/>
            <a:ext cx="8595360" cy="1325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100" b="1">
                <a:solidFill>
                  <a:srgbClr val="1F2933"/>
                </a:solidFill>
                <a:latin typeface="Aptos"/>
              </a:rPr>
              <a:t>RISC-V Custom Instruction Based Lightweight CNN Accelerator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49808" y="2157984"/>
            <a:ext cx="585216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5B6773"/>
                </a:solidFill>
                <a:latin typeface="Aptos"/>
              </a:rPr>
              <a:t>FPGA Prototype Validation on E203 + NICE</a:t>
            </a:r>
          </a:p>
        </p:txBody>
      </p:sp>
      <p:pic>
        <p:nvPicPr>
          <p:cNvPr id="4" name="Picture 3" descr="fig3_1_soc_architectur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14128" y="2788920"/>
            <a:ext cx="4750982" cy="283464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749808" y="5870448"/>
            <a:ext cx="56692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5B6773"/>
                </a:solidFill>
                <a:latin typeface="Aptos"/>
              </a:rPr>
              <a:t>JU JIAXING | BEng Computer Engineering | May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10896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700" b="1">
                <a:solidFill>
                  <a:srgbClr val="1F2933"/>
                </a:solidFill>
                <a:latin typeface="Aptos"/>
              </a:rPr>
              <a:t>Why this project matters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832104"/>
            <a:ext cx="106984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>
                <a:solidFill>
                  <a:srgbClr val="5B6773"/>
                </a:solidFill>
                <a:latin typeface="Aptos"/>
              </a:rPr>
              <a:t>Edge CNN inference needs more throughput than a small CPU can provide, but a full custom accelerator must still remain verifiable.</a:t>
            </a:r>
          </a:p>
        </p:txBody>
      </p:sp>
      <p:sp>
        <p:nvSpPr>
          <p:cNvPr id="4" name="Rectangle 3"/>
          <p:cNvSpPr/>
          <p:nvPr/>
        </p:nvSpPr>
        <p:spPr>
          <a:xfrm>
            <a:off x="530352" y="1170432"/>
            <a:ext cx="914400" cy="32004"/>
          </a:xfrm>
          <a:prstGeom prst="rect">
            <a:avLst/>
          </a:prstGeom>
          <a:solidFill>
            <a:srgbClr val="2F6FB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68680" y="1600200"/>
            <a:ext cx="493776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000">
                <a:solidFill>
                  <a:srgbClr val="1F2933"/>
                </a:solidFill>
                <a:latin typeface="Aptos"/>
              </a:defRPr>
            </a:pPr>
            <a:r>
              <a:t>CNN convolution is MAC-heavy and expensive for a scalar CPU.</a:t>
            </a:r>
          </a:p>
          <a:p>
            <a:pPr>
              <a:spcAft>
                <a:spcPts val="800"/>
              </a:spcAft>
              <a:defRPr sz="2000">
                <a:solidFill>
                  <a:srgbClr val="1F2933"/>
                </a:solidFill>
                <a:latin typeface="Aptos"/>
              </a:defRPr>
            </a:pPr>
            <a:r>
              <a:t>RISC-V custom instructions let the accelerator stay close to the execution pipeline.</a:t>
            </a:r>
          </a:p>
          <a:p>
            <a:pPr>
              <a:spcAft>
                <a:spcPts val="800"/>
              </a:spcAft>
              <a:defRPr sz="2000">
                <a:solidFill>
                  <a:srgbClr val="1F2933"/>
                </a:solidFill>
                <a:latin typeface="Aptos"/>
              </a:defRPr>
            </a:pPr>
            <a:r>
              <a:t>The project target is not only speedup, but a reproducible FPGA validation chain.</a:t>
            </a:r>
          </a:p>
        </p:txBody>
      </p:sp>
      <p:pic>
        <p:nvPicPr>
          <p:cNvPr id="6" name="Picture 5" descr="fig3_6_build_pipelin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80760" y="2183107"/>
            <a:ext cx="5120640" cy="2272329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30352" y="6263640"/>
            <a:ext cx="107899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40" b="0">
                <a:solidFill>
                  <a:srgbClr val="5B6773"/>
                </a:solidFill>
                <a:latin typeface="Aptos"/>
              </a:rPr>
              <a:t>Evidence: thesis_latex/figures + 04_Experiments board/simulation logs.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565392"/>
            <a:ext cx="7772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>
                <a:solidFill>
                  <a:srgbClr val="5B6773"/>
                </a:solidFill>
                <a:latin typeface="Aptos"/>
              </a:rPr>
              <a:t>Final Year Project Defense | Evidence-backed FPGA validation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155680" y="6565392"/>
            <a:ext cx="5943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750" b="0">
                <a:solidFill>
                  <a:srgbClr val="5B6773"/>
                </a:solidFill>
                <a:latin typeface="Aptos"/>
              </a:rPr>
              <a:t>02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10896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700" b="1">
                <a:solidFill>
                  <a:srgbClr val="1F2933"/>
                </a:solidFill>
                <a:latin typeface="Aptos"/>
              </a:rPr>
              <a:t>System architecture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832104"/>
            <a:ext cx="106984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>
                <a:solidFill>
                  <a:srgbClr val="5B6773"/>
                </a:solidFill>
                <a:latin typeface="Aptos"/>
              </a:rPr>
              <a:t>The accelerator is attached through the NICE coprocessor interface rather than memory-mapped I/O.</a:t>
            </a:r>
          </a:p>
        </p:txBody>
      </p:sp>
      <p:sp>
        <p:nvSpPr>
          <p:cNvPr id="4" name="Rectangle 3"/>
          <p:cNvSpPr/>
          <p:nvPr/>
        </p:nvSpPr>
        <p:spPr>
          <a:xfrm>
            <a:off x="530352" y="1170432"/>
            <a:ext cx="914400" cy="32004"/>
          </a:xfrm>
          <a:prstGeom prst="rect">
            <a:avLst/>
          </a:prstGeom>
          <a:solidFill>
            <a:srgbClr val="2F6FB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fig3_1_soc_architectur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45261" y="1417320"/>
            <a:ext cx="7816132" cy="466344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30352" y="6263640"/>
            <a:ext cx="107899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40" b="0">
                <a:solidFill>
                  <a:srgbClr val="5B6773"/>
                </a:solidFill>
                <a:latin typeface="Aptos"/>
              </a:rPr>
              <a:t>Evidence: thesis_latex/figures + 04_Experiments board/simulation logs.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565392"/>
            <a:ext cx="7772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>
                <a:solidFill>
                  <a:srgbClr val="5B6773"/>
                </a:solidFill>
                <a:latin typeface="Aptos"/>
              </a:rPr>
              <a:t>Final Year Project Defense | Evidence-backed FPGA validation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155680" y="6565392"/>
            <a:ext cx="5943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750" b="0">
                <a:solidFill>
                  <a:srgbClr val="5B6773"/>
                </a:solidFill>
                <a:latin typeface="Aptos"/>
              </a:rPr>
              <a:t>03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10896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700" b="1">
                <a:solidFill>
                  <a:srgbClr val="1F2933"/>
                </a:solidFill>
                <a:latin typeface="Aptos"/>
              </a:rPr>
              <a:t>Custom instruction interface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832104"/>
            <a:ext cx="106984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>
                <a:solidFill>
                  <a:srgbClr val="5B6773"/>
                </a:solidFill>
                <a:latin typeface="Aptos"/>
              </a:rPr>
              <a:t>Six custom0 instructions form a small software-visible ISA for convolution control.</a:t>
            </a:r>
          </a:p>
        </p:txBody>
      </p:sp>
      <p:sp>
        <p:nvSpPr>
          <p:cNvPr id="4" name="Rectangle 3"/>
          <p:cNvSpPr/>
          <p:nvPr/>
        </p:nvSpPr>
        <p:spPr>
          <a:xfrm>
            <a:off x="530352" y="1170432"/>
            <a:ext cx="914400" cy="32004"/>
          </a:xfrm>
          <a:prstGeom prst="rect">
            <a:avLst/>
          </a:prstGeom>
          <a:solidFill>
            <a:srgbClr val="2F6FB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fig3_2b_instruction_tabl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3504" y="2121726"/>
            <a:ext cx="6720840" cy="3208906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7635240" y="1600200"/>
            <a:ext cx="3886200" cy="3520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1F2933"/>
                </a:solidFill>
                <a:latin typeface="Aptos"/>
              </a:defRPr>
            </a:pPr>
            <a:r>
              <a:t>CFG/CLEAR configure and reset the accelerator state.</a:t>
            </a:r>
          </a:p>
          <a:p>
            <a:pPr>
              <a:spcAft>
                <a:spcPts val="800"/>
              </a:spcAft>
              <a:defRPr sz="1500">
                <a:solidFill>
                  <a:srgbClr val="1F2933"/>
                </a:solidFill>
                <a:latin typeface="Aptos"/>
              </a:defRPr>
            </a:pPr>
            <a:r>
              <a:t>WLOAD/DLOAD serialize 4x4 INT8 data into the PE array.</a:t>
            </a:r>
          </a:p>
          <a:p>
            <a:pPr>
              <a:spcAft>
                <a:spcPts val="800"/>
              </a:spcAft>
              <a:defRPr sz="1500">
                <a:solidFill>
                  <a:srgbClr val="1F2933"/>
                </a:solidFill>
                <a:latin typeface="Aptos"/>
              </a:defRPr>
            </a:pPr>
            <a:r>
              <a:t>COMP/RSTAT trigger compute and read the accumulated result.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30352" y="6263640"/>
            <a:ext cx="107899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40" b="0">
                <a:solidFill>
                  <a:srgbClr val="5B6773"/>
                </a:solidFill>
                <a:latin typeface="Aptos"/>
              </a:rPr>
              <a:t>Evidence: thesis_latex/figures + 04_Experiments board/simulation logs.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565392"/>
            <a:ext cx="7772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>
                <a:solidFill>
                  <a:srgbClr val="5B6773"/>
                </a:solidFill>
                <a:latin typeface="Aptos"/>
              </a:rPr>
              <a:t>Final Year Project Defense | Evidence-backed FPGA validation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155680" y="6565392"/>
            <a:ext cx="5943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750" b="0">
                <a:solidFill>
                  <a:srgbClr val="5B6773"/>
                </a:solidFill>
                <a:latin typeface="Aptos"/>
              </a:rPr>
              <a:t>04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10896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700" b="1">
                <a:solidFill>
                  <a:srgbClr val="1F2933"/>
                </a:solidFill>
                <a:latin typeface="Aptos"/>
              </a:rPr>
              <a:t>Accelerator datapath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832104"/>
            <a:ext cx="106984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>
                <a:solidFill>
                  <a:srgbClr val="5B6773"/>
                </a:solidFill>
                <a:latin typeface="Aptos"/>
              </a:rPr>
              <a:t>A 4x4 INT8 PE array exposes parallel MAC throughput through register-fed custom instructions.</a:t>
            </a:r>
          </a:p>
        </p:txBody>
      </p:sp>
      <p:sp>
        <p:nvSpPr>
          <p:cNvPr id="4" name="Rectangle 3"/>
          <p:cNvSpPr/>
          <p:nvPr/>
        </p:nvSpPr>
        <p:spPr>
          <a:xfrm>
            <a:off x="530352" y="1170432"/>
            <a:ext cx="914400" cy="32004"/>
          </a:xfrm>
          <a:prstGeom prst="rect">
            <a:avLst/>
          </a:prstGeom>
          <a:solidFill>
            <a:srgbClr val="2F6FB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fig3_4_pe_arra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99152" y="1417320"/>
            <a:ext cx="7108350" cy="466344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30352" y="6263640"/>
            <a:ext cx="107899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40" b="0">
                <a:solidFill>
                  <a:srgbClr val="5B6773"/>
                </a:solidFill>
                <a:latin typeface="Aptos"/>
              </a:rPr>
              <a:t>Evidence: thesis_latex/figures + 04_Experiments board/simulation logs.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565392"/>
            <a:ext cx="7772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>
                <a:solidFill>
                  <a:srgbClr val="5B6773"/>
                </a:solidFill>
                <a:latin typeface="Aptos"/>
              </a:rPr>
              <a:t>Final Year Project Defense | Evidence-backed FPGA validation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155680" y="6565392"/>
            <a:ext cx="5943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750" b="0">
                <a:solidFill>
                  <a:srgbClr val="5B6773"/>
                </a:solidFill>
                <a:latin typeface="Aptos"/>
              </a:rPr>
              <a:t>05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10896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700" b="1">
                <a:solidFill>
                  <a:srgbClr val="1F2933"/>
                </a:solidFill>
                <a:latin typeface="Aptos"/>
              </a:rPr>
              <a:t>Verification strategy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832104"/>
            <a:ext cx="106984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>
                <a:solidFill>
                  <a:srgbClr val="5B6773"/>
                </a:solidFill>
                <a:latin typeface="Aptos"/>
              </a:rPr>
              <a:t>The same evidence chain supports the thesis and the defense.</a:t>
            </a:r>
          </a:p>
        </p:txBody>
      </p:sp>
      <p:sp>
        <p:nvSpPr>
          <p:cNvPr id="4" name="Rectangle 3"/>
          <p:cNvSpPr/>
          <p:nvPr/>
        </p:nvSpPr>
        <p:spPr>
          <a:xfrm>
            <a:off x="530352" y="1170432"/>
            <a:ext cx="914400" cy="32004"/>
          </a:xfrm>
          <a:prstGeom prst="rect">
            <a:avLst/>
          </a:prstGeom>
          <a:solidFill>
            <a:srgbClr val="2F6FB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fig3_7_verification_chai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1248" y="1550682"/>
            <a:ext cx="10424159" cy="4396715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30352" y="6263640"/>
            <a:ext cx="107899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40" b="0">
                <a:solidFill>
                  <a:srgbClr val="5B6773"/>
                </a:solidFill>
                <a:latin typeface="Aptos"/>
              </a:rPr>
              <a:t>Evidence: thesis_latex/figures + 04_Experiments board/simulation logs.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565392"/>
            <a:ext cx="7772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>
                <a:solidFill>
                  <a:srgbClr val="5B6773"/>
                </a:solidFill>
                <a:latin typeface="Aptos"/>
              </a:rPr>
              <a:t>Final Year Project Defense | Evidence-backed FPGA validation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155680" y="6565392"/>
            <a:ext cx="5943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750" b="0">
                <a:solidFill>
                  <a:srgbClr val="5B6773"/>
                </a:solidFill>
                <a:latin typeface="Aptos"/>
              </a:rPr>
              <a:t>06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10896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700" b="1">
                <a:solidFill>
                  <a:srgbClr val="1F2933"/>
                </a:solidFill>
                <a:latin typeface="Aptos"/>
              </a:rPr>
              <a:t>Board bring-up evidence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832104"/>
            <a:ext cx="106984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>
                <a:solidFill>
                  <a:srgbClr val="5B6773"/>
                </a:solidFill>
                <a:latin typeface="Aptos"/>
              </a:rPr>
              <a:t>The hello_e203 run closed the CPU boot path with UART and ILA evidence.</a:t>
            </a:r>
          </a:p>
        </p:txBody>
      </p:sp>
      <p:sp>
        <p:nvSpPr>
          <p:cNvPr id="4" name="Rectangle 3"/>
          <p:cNvSpPr/>
          <p:nvPr/>
        </p:nvSpPr>
        <p:spPr>
          <a:xfrm>
            <a:off x="530352" y="1170432"/>
            <a:ext cx="914400" cy="32004"/>
          </a:xfrm>
          <a:prstGeom prst="rect">
            <a:avLst/>
          </a:prstGeom>
          <a:solidFill>
            <a:srgbClr val="2F6FB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fig4_1_ila_pc_trac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3503" y="1909642"/>
            <a:ext cx="6720840" cy="3633075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7635240" y="1600200"/>
            <a:ext cx="3886200" cy="3520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1F2933"/>
                </a:solidFill>
                <a:latin typeface="Aptos"/>
              </a:defRPr>
            </a:pPr>
            <a:r>
              <a:t>MROM boot redirects execution to ITCM.</a:t>
            </a:r>
          </a:p>
          <a:p>
            <a:pPr>
              <a:spcAft>
                <a:spcPts val="800"/>
              </a:spcAft>
              <a:defRPr sz="1500">
                <a:solidFill>
                  <a:srgbClr val="1F2933"/>
                </a:solidFill>
                <a:latin typeface="Aptos"/>
              </a:defRPr>
            </a:pPr>
            <a:r>
              <a:t>UART proves firmware-level execution.</a:t>
            </a:r>
          </a:p>
          <a:p>
            <a:pPr>
              <a:spcAft>
                <a:spcPts val="800"/>
              </a:spcAft>
              <a:defRPr sz="1500">
                <a:solidFill>
                  <a:srgbClr val="1F2933"/>
                </a:solidFill>
                <a:latin typeface="Aptos"/>
              </a:defRPr>
            </a:pPr>
            <a:r>
              <a:t>ILA confirms PC activity and board-level reset/clock health.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30352" y="6263640"/>
            <a:ext cx="107899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40" b="0">
                <a:solidFill>
                  <a:srgbClr val="5B6773"/>
                </a:solidFill>
                <a:latin typeface="Aptos"/>
              </a:rPr>
              <a:t>Evidence: thesis_latex/figures + 04_Experiments board/simulation logs.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565392"/>
            <a:ext cx="7772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>
                <a:solidFill>
                  <a:srgbClr val="5B6773"/>
                </a:solidFill>
                <a:latin typeface="Aptos"/>
              </a:rPr>
              <a:t>Final Year Project Defense | Evidence-backed FPGA validation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155680" y="6565392"/>
            <a:ext cx="5943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750" b="0">
                <a:solidFill>
                  <a:srgbClr val="5B6773"/>
                </a:solidFill>
                <a:latin typeface="Aptos"/>
              </a:rPr>
              <a:t>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10896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700" b="1">
                <a:solidFill>
                  <a:srgbClr val="1F2933"/>
                </a:solidFill>
                <a:latin typeface="Aptos"/>
              </a:rPr>
              <a:t>CNN board result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832104"/>
            <a:ext cx="106984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>
                <a:solidFill>
                  <a:srgbClr val="5B6773"/>
                </a:solidFill>
                <a:latin typeface="Aptos"/>
              </a:rPr>
              <a:t>The CNN v1 demo passed on the FPGA: hardware output matched software and expected values.</a:t>
            </a:r>
          </a:p>
        </p:txBody>
      </p:sp>
      <p:sp>
        <p:nvSpPr>
          <p:cNvPr id="4" name="Rectangle 3"/>
          <p:cNvSpPr/>
          <p:nvPr/>
        </p:nvSpPr>
        <p:spPr>
          <a:xfrm>
            <a:off x="530352" y="1170432"/>
            <a:ext cx="914400" cy="32004"/>
          </a:xfrm>
          <a:prstGeom prst="rect">
            <a:avLst/>
          </a:prstGeom>
          <a:solidFill>
            <a:srgbClr val="2F6FB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fig_uart_outpu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70563" y="1417320"/>
            <a:ext cx="7965528" cy="466344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30352" y="6263640"/>
            <a:ext cx="107899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40" b="0">
                <a:solidFill>
                  <a:srgbClr val="5B6773"/>
                </a:solidFill>
                <a:latin typeface="Aptos"/>
              </a:rPr>
              <a:t>Evidence: thesis_latex/figures + 04_Experiments board/simulation logs.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565392"/>
            <a:ext cx="7772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>
                <a:solidFill>
                  <a:srgbClr val="5B6773"/>
                </a:solidFill>
                <a:latin typeface="Aptos"/>
              </a:rPr>
              <a:t>Final Year Project Defense | Evidence-backed FPGA validation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155680" y="6565392"/>
            <a:ext cx="5943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750" b="0">
                <a:solidFill>
                  <a:srgbClr val="5B6773"/>
                </a:solidFill>
                <a:latin typeface="Aptos"/>
              </a:rPr>
              <a:t>08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10896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700" b="1">
                <a:solidFill>
                  <a:srgbClr val="1F2933"/>
                </a:solidFill>
                <a:latin typeface="Aptos"/>
              </a:rPr>
              <a:t>Performance and fit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832104"/>
            <a:ext cx="106984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>
                <a:solidFill>
                  <a:srgbClr val="5B6773"/>
                </a:solidFill>
                <a:latin typeface="Aptos"/>
              </a:rPr>
              <a:t>The accelerator reaches the target convolution speedup while fitting comfortably in the A7-100T.</a:t>
            </a:r>
          </a:p>
        </p:txBody>
      </p:sp>
      <p:sp>
        <p:nvSpPr>
          <p:cNvPr id="4" name="Rectangle 3"/>
          <p:cNvSpPr/>
          <p:nvPr/>
        </p:nvSpPr>
        <p:spPr>
          <a:xfrm>
            <a:off x="530352" y="1170432"/>
            <a:ext cx="914400" cy="32004"/>
          </a:xfrm>
          <a:prstGeom prst="rect">
            <a:avLst/>
          </a:prstGeom>
          <a:solidFill>
            <a:srgbClr val="2F6FB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fig4_3_speedup_ba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14581" y="1417320"/>
            <a:ext cx="8277492" cy="466344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30352" y="6263640"/>
            <a:ext cx="107899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40" b="0">
                <a:solidFill>
                  <a:srgbClr val="5B6773"/>
                </a:solidFill>
                <a:latin typeface="Aptos"/>
              </a:rPr>
              <a:t>Evidence: thesis_latex/figures + 04_Experiments board/simulation logs.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565392"/>
            <a:ext cx="7772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>
                <a:solidFill>
                  <a:srgbClr val="5B6773"/>
                </a:solidFill>
                <a:latin typeface="Aptos"/>
              </a:rPr>
              <a:t>Final Year Project Defense | Evidence-backed FPGA validation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155680" y="6565392"/>
            <a:ext cx="5943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750" b="0">
                <a:solidFill>
                  <a:srgbClr val="5B6773"/>
                </a:solidFill>
                <a:latin typeface="Aptos"/>
              </a:rPr>
              <a:t>09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10896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700" b="1">
                <a:solidFill>
                  <a:srgbClr val="1F2933"/>
                </a:solidFill>
                <a:latin typeface="Aptos"/>
              </a:rPr>
              <a:t>NICE rs2 bug case study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832104"/>
            <a:ext cx="106984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>
                <a:solidFill>
                  <a:srgbClr val="5B6773"/>
                </a:solidFill>
                <a:latin typeface="Aptos"/>
              </a:rPr>
              <a:t>The key integration bug was not in the PE array: it was an E203 decoder optimization conflicting with NICE operand semantics.</a:t>
            </a:r>
          </a:p>
        </p:txBody>
      </p:sp>
      <p:sp>
        <p:nvSpPr>
          <p:cNvPr id="4" name="Rectangle 3"/>
          <p:cNvSpPr/>
          <p:nvPr/>
        </p:nvSpPr>
        <p:spPr>
          <a:xfrm>
            <a:off x="530352" y="1170432"/>
            <a:ext cx="914400" cy="32004"/>
          </a:xfrm>
          <a:prstGeom prst="rect">
            <a:avLst/>
          </a:prstGeom>
          <a:solidFill>
            <a:srgbClr val="2F6FB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822960" y="1508760"/>
            <a:ext cx="3154680" cy="3429000"/>
          </a:xfrm>
          <a:prstGeom prst="roundRect">
            <a:avLst/>
          </a:prstGeom>
          <a:solidFill>
            <a:srgbClr val="F8FAFC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87552" y="1618488"/>
            <a:ext cx="2825496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B42318"/>
                </a:solidFill>
                <a:latin typeface="Aptos"/>
              </a:rPr>
              <a:t>Root cause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87552" y="1938528"/>
            <a:ext cx="2825496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>
                <a:solidFill>
                  <a:srgbClr val="1F2933"/>
                </a:solidFill>
                <a:latin typeface="Aptos"/>
              </a:rPr>
              <a:t>The E203 decoder treated rs2=x0 as no operand needed. NICE WLOAD/DLOAD use rs2 as a vector-bank index, so index 0 was incorrectly gated.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26280" y="1508760"/>
            <a:ext cx="2880360" cy="3429000"/>
          </a:xfrm>
          <a:prstGeom prst="roundRect">
            <a:avLst/>
          </a:prstGeom>
          <a:solidFill>
            <a:srgbClr val="F8FAFC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690872" y="1618488"/>
            <a:ext cx="2551176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2F6FB3"/>
                </a:solidFill>
                <a:latin typeface="Aptos"/>
              </a:rPr>
              <a:t>Fix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690872" y="1938528"/>
            <a:ext cx="2551176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>
                <a:solidFill>
                  <a:srgbClr val="1F2933"/>
                </a:solidFill>
                <a:latin typeface="Aptos"/>
              </a:rPr>
              <a:t>For NICE instructions, rv32_need_rs2 follows nice_need_rs2 directly. Standard RISC-V x0 gating remains unchanged.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955279" y="1508760"/>
            <a:ext cx="3063240" cy="3429000"/>
          </a:xfrm>
          <a:prstGeom prst="roundRect">
            <a:avLst/>
          </a:prstGeom>
          <a:solidFill>
            <a:srgbClr val="F8FAFC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119871" y="1618488"/>
            <a:ext cx="2734056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23835A"/>
                </a:solidFill>
                <a:latin typeface="Aptos"/>
              </a:rPr>
              <a:t>Board regression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119871" y="1938528"/>
            <a:ext cx="2734056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>
                <a:solidFill>
                  <a:srgbClr val="1F2933"/>
                </a:solidFill>
                <a:latin typeface="Aptos"/>
              </a:rPr>
              <a:t>cnn_sysclk_ila rebuilt cleanly. UART confirmed HW/SW/Expected match and 5.282x speedup after the fix.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30352" y="6263640"/>
            <a:ext cx="107899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40" b="0">
                <a:solidFill>
                  <a:srgbClr val="5B6773"/>
                </a:solidFill>
                <a:latin typeface="Aptos"/>
              </a:rPr>
              <a:t>Evidence: thesis_latex/figures + 04_Experiments board/simulation logs.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02920" y="6565392"/>
            <a:ext cx="7772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>
                <a:solidFill>
                  <a:srgbClr val="5B6773"/>
                </a:solidFill>
                <a:latin typeface="Aptos"/>
              </a:rPr>
              <a:t>Final Year Project Defense | Evidence-backed FPGA validation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155680" y="6565392"/>
            <a:ext cx="5943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750" b="0">
                <a:solidFill>
                  <a:srgbClr val="5B6773"/>
                </a:solidFill>
                <a:latin typeface="Aptos"/>
              </a:rP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10896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700" b="1">
                <a:solidFill>
                  <a:srgbClr val="1F2933"/>
                </a:solidFill>
                <a:latin typeface="Aptos"/>
              </a:rPr>
              <a:t>Contributions and next work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832104"/>
            <a:ext cx="106984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>
                <a:solidFill>
                  <a:srgbClr val="5B6773"/>
                </a:solidFill>
                <a:latin typeface="Aptos"/>
              </a:rPr>
              <a:t>The project closes a reproducible custom-instruction accelerator prototype and leaves clear expansion paths.</a:t>
            </a:r>
          </a:p>
        </p:txBody>
      </p:sp>
      <p:sp>
        <p:nvSpPr>
          <p:cNvPr id="4" name="Rectangle 3"/>
          <p:cNvSpPr/>
          <p:nvPr/>
        </p:nvSpPr>
        <p:spPr>
          <a:xfrm>
            <a:off x="530352" y="1170432"/>
            <a:ext cx="914400" cy="32004"/>
          </a:xfrm>
          <a:prstGeom prst="rect">
            <a:avLst/>
          </a:prstGeom>
          <a:solidFill>
            <a:srgbClr val="2F6FB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68680" y="1600200"/>
            <a:ext cx="1005840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000">
                <a:solidFill>
                  <a:srgbClr val="1F2933"/>
                </a:solidFill>
                <a:latin typeface="Aptos"/>
              </a:defRPr>
            </a:pPr>
            <a:r>
              <a:t>Implemented a 4x4 INT8 CNN accelerator with six NICE instructions.</a:t>
            </a:r>
          </a:p>
          <a:p>
            <a:pPr>
              <a:spcAft>
                <a:spcPts val="800"/>
              </a:spcAft>
              <a:defRPr sz="2000">
                <a:solidFill>
                  <a:srgbClr val="1F2933"/>
                </a:solidFill>
                <a:latin typeface="Aptos"/>
              </a:defRPr>
            </a:pPr>
            <a:r>
              <a:t>Closed RTL, full-SoC, hello_e203 board, and CNN v1 board validation.</a:t>
            </a:r>
          </a:p>
          <a:p>
            <a:pPr>
              <a:spcAft>
                <a:spcPts val="800"/>
              </a:spcAft>
              <a:defRPr sz="2000">
                <a:solidFill>
                  <a:srgbClr val="1F2933"/>
                </a:solidFill>
                <a:latin typeface="Aptos"/>
              </a:defRPr>
            </a:pPr>
            <a:r>
              <a:t>Future work: FC acceleration, higher SoC clock, larger benchmark coverage.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30352" y="6263640"/>
            <a:ext cx="107899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40" b="0">
                <a:solidFill>
                  <a:srgbClr val="5B6773"/>
                </a:solidFill>
                <a:latin typeface="Aptos"/>
              </a:rPr>
              <a:t>Evidence: thesis_latex/figures + 04_Experiments board/simulation logs.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565392"/>
            <a:ext cx="7772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>
                <a:solidFill>
                  <a:srgbClr val="5B6773"/>
                </a:solidFill>
                <a:latin typeface="Aptos"/>
              </a:rPr>
              <a:t>Final Year Project Defense | Evidence-backed FPGA validation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155680" y="6565392"/>
            <a:ext cx="5943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750" b="0">
                <a:solidFill>
                  <a:srgbClr val="5B6773"/>
                </a:solidFill>
                <a:latin typeface="Aptos"/>
              </a:rPr>
              <a:t>11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